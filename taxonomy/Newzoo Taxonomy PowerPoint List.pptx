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74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0F281-F5DF-4E5E-8A94-D0D873F2BDB5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3B035-11BD-4E50-886E-1A11B43BFF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728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0517-8811-46B8-15AF-C7E39BCAC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50696-5AC6-F46B-06C5-1DCE94CBE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848B8-36BF-3678-0037-EEDBAAEC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23193-A4A5-5215-5E5F-FB5274F0D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65665-4BCB-604F-3FD0-9E1BAF14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241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3A50-8106-F45B-E396-AAB7B0F6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4E7D-B259-4D37-3539-CA971D294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F32D6-7D71-E646-3D22-C5A398D9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99649-1A01-2D6F-8AA0-C025CA76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DC3A9-C82B-9528-322D-10A5F684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728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30E1-E1DA-4EF6-E572-2DC6DD2D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FD873-F48E-49B3-55A1-EA88F1DA6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20DA-261E-AB84-7818-55527D82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A0FF2-C0E5-3240-8880-F35375CE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8FAC-B074-1226-4F5A-56E2D7BF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059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3A31-8365-6374-ED17-D9B1C700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D6E51-2644-8C2B-10BA-5E0A0B38C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D0D17-CDCA-8000-0021-1070F48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3C8A8-63C0-F344-996C-5209D0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CC0D0-296C-619D-9D9F-000C5BB2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EF7B3-C1F9-ED1D-83FE-3F11361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07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88ED-18FF-F91F-96EA-B816870F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138E0-4093-5271-A62E-F129B0DF5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DBDBF-FCC8-F91F-0B02-746027EFD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F92A91-A3A6-CF4D-6747-DDE457F12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53AC5-E245-CEE6-530D-9D9D3B72E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EA292-146C-D6B4-9136-50CEF3C9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409932-2798-5552-19DC-36D9A6A8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1F5E3-C35A-49C0-4936-77240899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421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F62D-2341-80E0-EDA9-631CB9A5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D6762-F626-E80B-DC5F-020DA2D5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61A5E-91FA-05F7-E4C4-A33C26A0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1A5E8-470B-3454-0C83-E93341EE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7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667BB-EECF-0231-6212-48907DF4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858365-DC83-1C4B-09CF-F26FFC36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21B1C-BF72-E469-1CF0-092B62DD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15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8BC6-1A9D-26E2-631C-E88C320E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42BCD-BB18-F9F5-0C31-53B02F351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CC58A-C1CB-B871-F330-B40231C2C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15FD5-C131-3DD5-1E45-F6186934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CFA11-4EA5-CEA4-C479-5F800D3E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3ADCF-D1B6-C4C5-D499-9B307E12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126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C655-DD69-EE35-0650-B276F746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C353A-F71F-0399-F75B-0FB15C54A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5D3DC-5127-96C8-8313-359B6F24C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23A31-EAA8-BA9A-5D66-7D8FAA7F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9E4D0-150B-8B84-F313-67B332C6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BF815-62F5-AC3A-4640-79102276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44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EB7D-B881-6259-D96F-52360F7F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0E76-9BA7-518B-491B-1CA87048E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8130B-2B6E-A1C2-82C4-2FE8DBB0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92A11-4904-0DF1-80CF-9E19B606D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421D3-525F-DEEB-8FB2-2DFE9921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491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69FB1-AFEC-74AF-011A-8241D879F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8DDF4-C9A2-7698-6F8A-BF7DB7321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E576-6F34-DB4E-7153-98C2CDBD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A6979-0F0E-F540-D83D-BB5071E91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20684-252D-F789-37A8-0C053444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338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9B33A206-E0E6-40CD-B408-84713269CE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186" y="2484939"/>
            <a:ext cx="3155449" cy="29296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 cap="none" baseline="0">
                <a:solidFill>
                  <a:srgbClr val="191C1E"/>
                </a:solidFill>
                <a:latin typeface="Gotham Medium" panose="02000604030000020004" pitchFamily="2" charset="-128"/>
                <a:ea typeface="Gotham Medium" panose="02000604030000020004" pitchFamily="2" charset="-128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519C882A-966C-4156-9140-56D151B2CF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186" y="3006610"/>
            <a:ext cx="3155449" cy="124454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000">
                <a:solidFill>
                  <a:srgbClr val="191C1E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7C72AA5D-B4F8-42B0-B70C-E1A7008835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29492" y="2484939"/>
            <a:ext cx="3155449" cy="29296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 cap="none" baseline="0">
                <a:solidFill>
                  <a:srgbClr val="191C1E"/>
                </a:solidFill>
                <a:latin typeface="Gotham Medium" panose="02000604030000020004" pitchFamily="2" charset="-128"/>
                <a:ea typeface="Gotham Medium" panose="02000604030000020004" pitchFamily="2" charset="-128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03B08E7-CB4F-4B0E-8DC3-37DDAE963E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29492" y="3006610"/>
            <a:ext cx="3155449" cy="124454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000">
                <a:solidFill>
                  <a:srgbClr val="191C1E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57E328E-1990-438B-95AE-2261B0FFBC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28413" y="2484939"/>
            <a:ext cx="3155449" cy="29296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 cap="none" baseline="0">
                <a:solidFill>
                  <a:srgbClr val="191C1E"/>
                </a:solidFill>
                <a:latin typeface="Gotham Medium" panose="02000604030000020004" pitchFamily="2" charset="-128"/>
                <a:ea typeface="Gotham Medium" panose="02000604030000020004" pitchFamily="2" charset="-128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36953E65-BFFD-4178-AF50-3C24233D16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28413" y="3006610"/>
            <a:ext cx="3155449" cy="124454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000">
                <a:solidFill>
                  <a:srgbClr val="191C1E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BBE2FE55-68FF-9348-8B69-3BC331FC7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9801" y="370958"/>
            <a:ext cx="11264039" cy="461665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 cap="none" baseline="0">
                <a:solidFill>
                  <a:srgbClr val="191C1E"/>
                </a:solidFill>
                <a:latin typeface="Gotham Medium" panose="02000604030000020004" pitchFamily="2" charset="-128"/>
                <a:ea typeface="Gotham Medium" panose="02000604030000020004" pitchFamily="2" charset="-128"/>
              </a:defRPr>
            </a:lvl1pPr>
          </a:lstStyle>
          <a:p>
            <a:pPr lvl="0"/>
            <a:endParaRPr lang="en-US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1215726B-CCB8-DB45-B6BC-8E2696E5C1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9801" y="834747"/>
            <a:ext cx="11264039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191C1E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grpSp>
        <p:nvGrpSpPr>
          <p:cNvPr id="34" name="Groep 27">
            <a:extLst>
              <a:ext uri="{FF2B5EF4-FFF2-40B4-BE49-F238E27FC236}">
                <a16:creationId xmlns:a16="http://schemas.microsoft.com/office/drawing/2014/main" id="{BA38BC1D-C312-E049-B956-67B9DB72B78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3306" y="6512838"/>
            <a:ext cx="883372" cy="137363"/>
            <a:chOff x="10306050" y="-989013"/>
            <a:chExt cx="1978025" cy="307975"/>
          </a:xfrm>
          <a:solidFill>
            <a:srgbClr val="00A62E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42EAC57F-E42E-7944-BF37-487DBB069F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6050" y="-989013"/>
              <a:ext cx="263525" cy="301625"/>
            </a:xfrm>
            <a:custGeom>
              <a:avLst/>
              <a:gdLst>
                <a:gd name="T0" fmla="*/ 0 w 276"/>
                <a:gd name="T1" fmla="*/ 6 h 307"/>
                <a:gd name="T2" fmla="*/ 0 w 276"/>
                <a:gd name="T3" fmla="*/ 6 h 307"/>
                <a:gd name="T4" fmla="*/ 85 w 276"/>
                <a:gd name="T5" fmla="*/ 6 h 307"/>
                <a:gd name="T6" fmla="*/ 85 w 276"/>
                <a:gd name="T7" fmla="*/ 48 h 307"/>
                <a:gd name="T8" fmla="*/ 173 w 276"/>
                <a:gd name="T9" fmla="*/ 0 h 307"/>
                <a:gd name="T10" fmla="*/ 276 w 276"/>
                <a:gd name="T11" fmla="*/ 111 h 307"/>
                <a:gd name="T12" fmla="*/ 276 w 276"/>
                <a:gd name="T13" fmla="*/ 307 h 307"/>
                <a:gd name="T14" fmla="*/ 190 w 276"/>
                <a:gd name="T15" fmla="*/ 307 h 307"/>
                <a:gd name="T16" fmla="*/ 190 w 276"/>
                <a:gd name="T17" fmla="*/ 138 h 307"/>
                <a:gd name="T18" fmla="*/ 139 w 276"/>
                <a:gd name="T19" fmla="*/ 77 h 307"/>
                <a:gd name="T20" fmla="*/ 85 w 276"/>
                <a:gd name="T21" fmla="*/ 138 h 307"/>
                <a:gd name="T22" fmla="*/ 85 w 276"/>
                <a:gd name="T23" fmla="*/ 307 h 307"/>
                <a:gd name="T24" fmla="*/ 0 w 276"/>
                <a:gd name="T25" fmla="*/ 307 h 307"/>
                <a:gd name="T26" fmla="*/ 0 w 276"/>
                <a:gd name="T27" fmla="*/ 6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6" h="307">
                  <a:moveTo>
                    <a:pt x="0" y="6"/>
                  </a:moveTo>
                  <a:lnTo>
                    <a:pt x="0" y="6"/>
                  </a:lnTo>
                  <a:lnTo>
                    <a:pt x="85" y="6"/>
                  </a:lnTo>
                  <a:lnTo>
                    <a:pt x="85" y="48"/>
                  </a:lnTo>
                  <a:cubicBezTo>
                    <a:pt x="105" y="22"/>
                    <a:pt x="130" y="0"/>
                    <a:pt x="173" y="0"/>
                  </a:cubicBezTo>
                  <a:cubicBezTo>
                    <a:pt x="238" y="0"/>
                    <a:pt x="276" y="42"/>
                    <a:pt x="276" y="111"/>
                  </a:cubicBezTo>
                  <a:lnTo>
                    <a:pt x="276" y="307"/>
                  </a:lnTo>
                  <a:lnTo>
                    <a:pt x="190" y="307"/>
                  </a:lnTo>
                  <a:lnTo>
                    <a:pt x="190" y="138"/>
                  </a:lnTo>
                  <a:cubicBezTo>
                    <a:pt x="190" y="98"/>
                    <a:pt x="171" y="77"/>
                    <a:pt x="139" y="77"/>
                  </a:cubicBezTo>
                  <a:cubicBezTo>
                    <a:pt x="106" y="77"/>
                    <a:pt x="85" y="98"/>
                    <a:pt x="85" y="138"/>
                  </a:cubicBezTo>
                  <a:lnTo>
                    <a:pt x="85" y="307"/>
                  </a:lnTo>
                  <a:lnTo>
                    <a:pt x="0" y="307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ok"/>
              </a:endParaRPr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9701EA05-E114-074D-85DB-6118E12A15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10850" y="-989013"/>
              <a:ext cx="282575" cy="307975"/>
            </a:xfrm>
            <a:custGeom>
              <a:avLst/>
              <a:gdLst>
                <a:gd name="T0" fmla="*/ 0 w 296"/>
                <a:gd name="T1" fmla="*/ 158 h 314"/>
                <a:gd name="T2" fmla="*/ 0 w 296"/>
                <a:gd name="T3" fmla="*/ 158 h 314"/>
                <a:gd name="T4" fmla="*/ 0 w 296"/>
                <a:gd name="T5" fmla="*/ 156 h 314"/>
                <a:gd name="T6" fmla="*/ 149 w 296"/>
                <a:gd name="T7" fmla="*/ 0 h 314"/>
                <a:gd name="T8" fmla="*/ 296 w 296"/>
                <a:gd name="T9" fmla="*/ 163 h 314"/>
                <a:gd name="T10" fmla="*/ 295 w 296"/>
                <a:gd name="T11" fmla="*/ 186 h 314"/>
                <a:gd name="T12" fmla="*/ 85 w 296"/>
                <a:gd name="T13" fmla="*/ 186 h 314"/>
                <a:gd name="T14" fmla="*/ 158 w 296"/>
                <a:gd name="T15" fmla="*/ 245 h 314"/>
                <a:gd name="T16" fmla="*/ 231 w 296"/>
                <a:gd name="T17" fmla="*/ 214 h 314"/>
                <a:gd name="T18" fmla="*/ 280 w 296"/>
                <a:gd name="T19" fmla="*/ 257 h 314"/>
                <a:gd name="T20" fmla="*/ 157 w 296"/>
                <a:gd name="T21" fmla="*/ 314 h 314"/>
                <a:gd name="T22" fmla="*/ 0 w 296"/>
                <a:gd name="T23" fmla="*/ 158 h 314"/>
                <a:gd name="T24" fmla="*/ 212 w 296"/>
                <a:gd name="T25" fmla="*/ 132 h 314"/>
                <a:gd name="T26" fmla="*/ 212 w 296"/>
                <a:gd name="T27" fmla="*/ 132 h 314"/>
                <a:gd name="T28" fmla="*/ 149 w 296"/>
                <a:gd name="T29" fmla="*/ 68 h 314"/>
                <a:gd name="T30" fmla="*/ 83 w 296"/>
                <a:gd name="T31" fmla="*/ 132 h 314"/>
                <a:gd name="T32" fmla="*/ 212 w 296"/>
                <a:gd name="T33" fmla="*/ 132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314">
                  <a:moveTo>
                    <a:pt x="0" y="158"/>
                  </a:moveTo>
                  <a:lnTo>
                    <a:pt x="0" y="158"/>
                  </a:lnTo>
                  <a:lnTo>
                    <a:pt x="0" y="156"/>
                  </a:lnTo>
                  <a:cubicBezTo>
                    <a:pt x="0" y="70"/>
                    <a:pt x="61" y="0"/>
                    <a:pt x="149" y="0"/>
                  </a:cubicBezTo>
                  <a:cubicBezTo>
                    <a:pt x="250" y="0"/>
                    <a:pt x="296" y="78"/>
                    <a:pt x="296" y="163"/>
                  </a:cubicBezTo>
                  <a:cubicBezTo>
                    <a:pt x="296" y="170"/>
                    <a:pt x="295" y="178"/>
                    <a:pt x="295" y="186"/>
                  </a:cubicBezTo>
                  <a:lnTo>
                    <a:pt x="85" y="186"/>
                  </a:lnTo>
                  <a:cubicBezTo>
                    <a:pt x="93" y="225"/>
                    <a:pt x="120" y="245"/>
                    <a:pt x="158" y="245"/>
                  </a:cubicBezTo>
                  <a:cubicBezTo>
                    <a:pt x="187" y="245"/>
                    <a:pt x="208" y="236"/>
                    <a:pt x="231" y="214"/>
                  </a:cubicBezTo>
                  <a:lnTo>
                    <a:pt x="280" y="257"/>
                  </a:lnTo>
                  <a:cubicBezTo>
                    <a:pt x="252" y="292"/>
                    <a:pt x="212" y="314"/>
                    <a:pt x="157" y="314"/>
                  </a:cubicBezTo>
                  <a:cubicBezTo>
                    <a:pt x="67" y="314"/>
                    <a:pt x="0" y="250"/>
                    <a:pt x="0" y="158"/>
                  </a:cubicBezTo>
                  <a:close/>
                  <a:moveTo>
                    <a:pt x="212" y="132"/>
                  </a:moveTo>
                  <a:lnTo>
                    <a:pt x="212" y="132"/>
                  </a:lnTo>
                  <a:cubicBezTo>
                    <a:pt x="207" y="94"/>
                    <a:pt x="185" y="68"/>
                    <a:pt x="149" y="68"/>
                  </a:cubicBezTo>
                  <a:cubicBezTo>
                    <a:pt x="113" y="68"/>
                    <a:pt x="90" y="93"/>
                    <a:pt x="83" y="132"/>
                  </a:cubicBezTo>
                  <a:lnTo>
                    <a:pt x="212" y="13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ok"/>
              </a:endParaRPr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55C9518-2B7D-9743-B3B4-1ACC25040F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99775" y="-984251"/>
              <a:ext cx="438150" cy="298450"/>
            </a:xfrm>
            <a:custGeom>
              <a:avLst/>
              <a:gdLst>
                <a:gd name="T0" fmla="*/ 192 w 458"/>
                <a:gd name="T1" fmla="*/ 0 h 304"/>
                <a:gd name="T2" fmla="*/ 192 w 458"/>
                <a:gd name="T3" fmla="*/ 0 h 304"/>
                <a:gd name="T4" fmla="*/ 136 w 458"/>
                <a:gd name="T5" fmla="*/ 183 h 304"/>
                <a:gd name="T6" fmla="*/ 87 w 458"/>
                <a:gd name="T7" fmla="*/ 1 h 304"/>
                <a:gd name="T8" fmla="*/ 0 w 458"/>
                <a:gd name="T9" fmla="*/ 1 h 304"/>
                <a:gd name="T10" fmla="*/ 93 w 458"/>
                <a:gd name="T11" fmla="*/ 304 h 304"/>
                <a:gd name="T12" fmla="*/ 170 w 458"/>
                <a:gd name="T13" fmla="*/ 304 h 304"/>
                <a:gd name="T14" fmla="*/ 229 w 458"/>
                <a:gd name="T15" fmla="*/ 119 h 304"/>
                <a:gd name="T16" fmla="*/ 287 w 458"/>
                <a:gd name="T17" fmla="*/ 304 h 304"/>
                <a:gd name="T18" fmla="*/ 364 w 458"/>
                <a:gd name="T19" fmla="*/ 304 h 304"/>
                <a:gd name="T20" fmla="*/ 458 w 458"/>
                <a:gd name="T21" fmla="*/ 1 h 304"/>
                <a:gd name="T22" fmla="*/ 373 w 458"/>
                <a:gd name="T23" fmla="*/ 1 h 304"/>
                <a:gd name="T24" fmla="*/ 324 w 458"/>
                <a:gd name="T25" fmla="*/ 184 h 304"/>
                <a:gd name="T26" fmla="*/ 266 w 458"/>
                <a:gd name="T27" fmla="*/ 0 h 304"/>
                <a:gd name="T28" fmla="*/ 192 w 458"/>
                <a:gd name="T29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8" h="304">
                  <a:moveTo>
                    <a:pt x="192" y="0"/>
                  </a:moveTo>
                  <a:lnTo>
                    <a:pt x="192" y="0"/>
                  </a:lnTo>
                  <a:lnTo>
                    <a:pt x="136" y="183"/>
                  </a:lnTo>
                  <a:lnTo>
                    <a:pt x="87" y="1"/>
                  </a:lnTo>
                  <a:lnTo>
                    <a:pt x="0" y="1"/>
                  </a:lnTo>
                  <a:lnTo>
                    <a:pt x="93" y="304"/>
                  </a:lnTo>
                  <a:lnTo>
                    <a:pt x="170" y="304"/>
                  </a:lnTo>
                  <a:lnTo>
                    <a:pt x="229" y="119"/>
                  </a:lnTo>
                  <a:lnTo>
                    <a:pt x="287" y="304"/>
                  </a:lnTo>
                  <a:lnTo>
                    <a:pt x="364" y="304"/>
                  </a:lnTo>
                  <a:lnTo>
                    <a:pt x="458" y="1"/>
                  </a:lnTo>
                  <a:lnTo>
                    <a:pt x="373" y="1"/>
                  </a:lnTo>
                  <a:lnTo>
                    <a:pt x="324" y="184"/>
                  </a:lnTo>
                  <a:lnTo>
                    <a:pt x="266" y="0"/>
                  </a:lnTo>
                  <a:lnTo>
                    <a:pt x="1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ok"/>
              </a:endParaRPr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C4638880-120C-4342-8F8D-53E0C744CA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58563" y="-984251"/>
              <a:ext cx="250825" cy="296863"/>
            </a:xfrm>
            <a:custGeom>
              <a:avLst/>
              <a:gdLst>
                <a:gd name="T0" fmla="*/ 5 w 262"/>
                <a:gd name="T1" fmla="*/ 0 h 301"/>
                <a:gd name="T2" fmla="*/ 5 w 262"/>
                <a:gd name="T3" fmla="*/ 0 h 301"/>
                <a:gd name="T4" fmla="*/ 5 w 262"/>
                <a:gd name="T5" fmla="*/ 68 h 301"/>
                <a:gd name="T6" fmla="*/ 156 w 262"/>
                <a:gd name="T7" fmla="*/ 68 h 301"/>
                <a:gd name="T8" fmla="*/ 0 w 262"/>
                <a:gd name="T9" fmla="*/ 241 h 301"/>
                <a:gd name="T10" fmla="*/ 0 w 262"/>
                <a:gd name="T11" fmla="*/ 301 h 301"/>
                <a:gd name="T12" fmla="*/ 262 w 262"/>
                <a:gd name="T13" fmla="*/ 301 h 301"/>
                <a:gd name="T14" fmla="*/ 262 w 262"/>
                <a:gd name="T15" fmla="*/ 232 h 301"/>
                <a:gd name="T16" fmla="*/ 106 w 262"/>
                <a:gd name="T17" fmla="*/ 232 h 301"/>
                <a:gd name="T18" fmla="*/ 262 w 262"/>
                <a:gd name="T19" fmla="*/ 59 h 301"/>
                <a:gd name="T20" fmla="*/ 262 w 262"/>
                <a:gd name="T21" fmla="*/ 0 h 301"/>
                <a:gd name="T22" fmla="*/ 5 w 262"/>
                <a:gd name="T2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2" h="301">
                  <a:moveTo>
                    <a:pt x="5" y="0"/>
                  </a:moveTo>
                  <a:lnTo>
                    <a:pt x="5" y="0"/>
                  </a:lnTo>
                  <a:lnTo>
                    <a:pt x="5" y="68"/>
                  </a:lnTo>
                  <a:lnTo>
                    <a:pt x="156" y="68"/>
                  </a:lnTo>
                  <a:lnTo>
                    <a:pt x="0" y="241"/>
                  </a:lnTo>
                  <a:lnTo>
                    <a:pt x="0" y="301"/>
                  </a:lnTo>
                  <a:lnTo>
                    <a:pt x="262" y="301"/>
                  </a:lnTo>
                  <a:lnTo>
                    <a:pt x="262" y="232"/>
                  </a:lnTo>
                  <a:lnTo>
                    <a:pt x="106" y="232"/>
                  </a:lnTo>
                  <a:lnTo>
                    <a:pt x="262" y="59"/>
                  </a:lnTo>
                  <a:lnTo>
                    <a:pt x="262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ok"/>
              </a:endParaRPr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A38DFD91-4A36-F846-AC7C-1131177D4C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631613" y="-989013"/>
              <a:ext cx="312738" cy="307975"/>
            </a:xfrm>
            <a:custGeom>
              <a:avLst/>
              <a:gdLst>
                <a:gd name="T0" fmla="*/ 0 w 326"/>
                <a:gd name="T1" fmla="*/ 158 h 314"/>
                <a:gd name="T2" fmla="*/ 0 w 326"/>
                <a:gd name="T3" fmla="*/ 158 h 314"/>
                <a:gd name="T4" fmla="*/ 0 w 326"/>
                <a:gd name="T5" fmla="*/ 156 h 314"/>
                <a:gd name="T6" fmla="*/ 164 w 326"/>
                <a:gd name="T7" fmla="*/ 0 h 314"/>
                <a:gd name="T8" fmla="*/ 326 w 326"/>
                <a:gd name="T9" fmla="*/ 155 h 314"/>
                <a:gd name="T10" fmla="*/ 326 w 326"/>
                <a:gd name="T11" fmla="*/ 156 h 314"/>
                <a:gd name="T12" fmla="*/ 163 w 326"/>
                <a:gd name="T13" fmla="*/ 314 h 314"/>
                <a:gd name="T14" fmla="*/ 0 w 326"/>
                <a:gd name="T15" fmla="*/ 158 h 314"/>
                <a:gd name="T16" fmla="*/ 242 w 326"/>
                <a:gd name="T17" fmla="*/ 158 h 314"/>
                <a:gd name="T18" fmla="*/ 242 w 326"/>
                <a:gd name="T19" fmla="*/ 158 h 314"/>
                <a:gd name="T20" fmla="*/ 242 w 326"/>
                <a:gd name="T21" fmla="*/ 156 h 314"/>
                <a:gd name="T22" fmla="*/ 163 w 326"/>
                <a:gd name="T23" fmla="*/ 73 h 314"/>
                <a:gd name="T24" fmla="*/ 84 w 326"/>
                <a:gd name="T25" fmla="*/ 155 h 314"/>
                <a:gd name="T26" fmla="*/ 84 w 326"/>
                <a:gd name="T27" fmla="*/ 156 h 314"/>
                <a:gd name="T28" fmla="*/ 164 w 326"/>
                <a:gd name="T29" fmla="*/ 240 h 314"/>
                <a:gd name="T30" fmla="*/ 242 w 326"/>
                <a:gd name="T31" fmla="*/ 158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6" h="314">
                  <a:moveTo>
                    <a:pt x="0" y="158"/>
                  </a:moveTo>
                  <a:lnTo>
                    <a:pt x="0" y="158"/>
                  </a:lnTo>
                  <a:lnTo>
                    <a:pt x="0" y="156"/>
                  </a:lnTo>
                  <a:cubicBezTo>
                    <a:pt x="0" y="70"/>
                    <a:pt x="70" y="0"/>
                    <a:pt x="164" y="0"/>
                  </a:cubicBezTo>
                  <a:cubicBezTo>
                    <a:pt x="257" y="0"/>
                    <a:pt x="326" y="69"/>
                    <a:pt x="326" y="155"/>
                  </a:cubicBezTo>
                  <a:lnTo>
                    <a:pt x="326" y="156"/>
                  </a:lnTo>
                  <a:cubicBezTo>
                    <a:pt x="326" y="243"/>
                    <a:pt x="257" y="314"/>
                    <a:pt x="163" y="314"/>
                  </a:cubicBezTo>
                  <a:cubicBezTo>
                    <a:pt x="69" y="314"/>
                    <a:pt x="0" y="244"/>
                    <a:pt x="0" y="158"/>
                  </a:cubicBezTo>
                  <a:close/>
                  <a:moveTo>
                    <a:pt x="242" y="158"/>
                  </a:moveTo>
                  <a:lnTo>
                    <a:pt x="242" y="158"/>
                  </a:lnTo>
                  <a:lnTo>
                    <a:pt x="242" y="156"/>
                  </a:lnTo>
                  <a:cubicBezTo>
                    <a:pt x="242" y="112"/>
                    <a:pt x="210" y="73"/>
                    <a:pt x="163" y="73"/>
                  </a:cubicBezTo>
                  <a:cubicBezTo>
                    <a:pt x="114" y="73"/>
                    <a:pt x="84" y="111"/>
                    <a:pt x="84" y="155"/>
                  </a:cubicBezTo>
                  <a:lnTo>
                    <a:pt x="84" y="156"/>
                  </a:lnTo>
                  <a:cubicBezTo>
                    <a:pt x="84" y="201"/>
                    <a:pt x="116" y="240"/>
                    <a:pt x="164" y="240"/>
                  </a:cubicBezTo>
                  <a:cubicBezTo>
                    <a:pt x="213" y="240"/>
                    <a:pt x="242" y="202"/>
                    <a:pt x="242" y="1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ok"/>
              </a:endParaRPr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8196B621-81D5-0B40-92CD-D872293EE7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72925" y="-989013"/>
              <a:ext cx="311150" cy="307975"/>
            </a:xfrm>
            <a:custGeom>
              <a:avLst/>
              <a:gdLst>
                <a:gd name="T0" fmla="*/ 0 w 326"/>
                <a:gd name="T1" fmla="*/ 158 h 314"/>
                <a:gd name="T2" fmla="*/ 0 w 326"/>
                <a:gd name="T3" fmla="*/ 158 h 314"/>
                <a:gd name="T4" fmla="*/ 0 w 326"/>
                <a:gd name="T5" fmla="*/ 156 h 314"/>
                <a:gd name="T6" fmla="*/ 163 w 326"/>
                <a:gd name="T7" fmla="*/ 0 h 314"/>
                <a:gd name="T8" fmla="*/ 326 w 326"/>
                <a:gd name="T9" fmla="*/ 155 h 314"/>
                <a:gd name="T10" fmla="*/ 326 w 326"/>
                <a:gd name="T11" fmla="*/ 156 h 314"/>
                <a:gd name="T12" fmla="*/ 162 w 326"/>
                <a:gd name="T13" fmla="*/ 314 h 314"/>
                <a:gd name="T14" fmla="*/ 0 w 326"/>
                <a:gd name="T15" fmla="*/ 158 h 314"/>
                <a:gd name="T16" fmla="*/ 242 w 326"/>
                <a:gd name="T17" fmla="*/ 158 h 314"/>
                <a:gd name="T18" fmla="*/ 242 w 326"/>
                <a:gd name="T19" fmla="*/ 158 h 314"/>
                <a:gd name="T20" fmla="*/ 242 w 326"/>
                <a:gd name="T21" fmla="*/ 156 h 314"/>
                <a:gd name="T22" fmla="*/ 162 w 326"/>
                <a:gd name="T23" fmla="*/ 73 h 314"/>
                <a:gd name="T24" fmla="*/ 84 w 326"/>
                <a:gd name="T25" fmla="*/ 155 h 314"/>
                <a:gd name="T26" fmla="*/ 84 w 326"/>
                <a:gd name="T27" fmla="*/ 156 h 314"/>
                <a:gd name="T28" fmla="*/ 163 w 326"/>
                <a:gd name="T29" fmla="*/ 240 h 314"/>
                <a:gd name="T30" fmla="*/ 242 w 326"/>
                <a:gd name="T31" fmla="*/ 158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6" h="314">
                  <a:moveTo>
                    <a:pt x="0" y="158"/>
                  </a:moveTo>
                  <a:lnTo>
                    <a:pt x="0" y="158"/>
                  </a:lnTo>
                  <a:lnTo>
                    <a:pt x="0" y="156"/>
                  </a:lnTo>
                  <a:cubicBezTo>
                    <a:pt x="0" y="70"/>
                    <a:pt x="69" y="0"/>
                    <a:pt x="163" y="0"/>
                  </a:cubicBezTo>
                  <a:cubicBezTo>
                    <a:pt x="257" y="0"/>
                    <a:pt x="326" y="69"/>
                    <a:pt x="326" y="155"/>
                  </a:cubicBezTo>
                  <a:lnTo>
                    <a:pt x="326" y="156"/>
                  </a:lnTo>
                  <a:cubicBezTo>
                    <a:pt x="326" y="243"/>
                    <a:pt x="256" y="314"/>
                    <a:pt x="162" y="314"/>
                  </a:cubicBezTo>
                  <a:cubicBezTo>
                    <a:pt x="69" y="314"/>
                    <a:pt x="0" y="244"/>
                    <a:pt x="0" y="158"/>
                  </a:cubicBezTo>
                  <a:close/>
                  <a:moveTo>
                    <a:pt x="242" y="158"/>
                  </a:moveTo>
                  <a:lnTo>
                    <a:pt x="242" y="158"/>
                  </a:lnTo>
                  <a:lnTo>
                    <a:pt x="242" y="156"/>
                  </a:lnTo>
                  <a:cubicBezTo>
                    <a:pt x="242" y="112"/>
                    <a:pt x="210" y="73"/>
                    <a:pt x="162" y="73"/>
                  </a:cubicBezTo>
                  <a:cubicBezTo>
                    <a:pt x="113" y="73"/>
                    <a:pt x="84" y="111"/>
                    <a:pt x="84" y="155"/>
                  </a:cubicBezTo>
                  <a:lnTo>
                    <a:pt x="84" y="156"/>
                  </a:lnTo>
                  <a:cubicBezTo>
                    <a:pt x="84" y="201"/>
                    <a:pt x="116" y="240"/>
                    <a:pt x="163" y="240"/>
                  </a:cubicBezTo>
                  <a:cubicBezTo>
                    <a:pt x="212" y="240"/>
                    <a:pt x="242" y="202"/>
                    <a:pt x="242" y="15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ok"/>
              </a:endParaRP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BDDD91D-10E9-304B-AE11-210BEEC36AB6}"/>
              </a:ext>
            </a:extLst>
          </p:cNvPr>
          <p:cNvCxnSpPr>
            <a:cxnSpLocks/>
          </p:cNvCxnSpPr>
          <p:nvPr userDrawn="1"/>
        </p:nvCxnSpPr>
        <p:spPr>
          <a:xfrm>
            <a:off x="409801" y="304801"/>
            <a:ext cx="113431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C1BFD394-1037-834D-AC06-BB9CB669F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769" y="6397422"/>
            <a:ext cx="527649" cy="215444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800">
                <a:solidFill>
                  <a:srgbClr val="191C1E"/>
                </a:solidFill>
                <a:latin typeface="Gotham Book" panose="02000603040000020004" pitchFamily="2" charset="0"/>
              </a:defRPr>
            </a:lvl1pPr>
          </a:lstStyle>
          <a:p>
            <a:fld id="{A3ABB642-74C1-4BA6-B271-27AE8D0B79B7}" type="slidenum">
              <a:rPr lang="en-US" smtClean="0"/>
              <a:pPr/>
              <a:t>‹#›</a:t>
            </a:fld>
            <a:r>
              <a:rPr lang="en-US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2C1317-5D9A-7647-93C1-049E872900AD}"/>
              </a:ext>
            </a:extLst>
          </p:cNvPr>
          <p:cNvSpPr txBox="1"/>
          <p:nvPr userDrawn="1"/>
        </p:nvSpPr>
        <p:spPr>
          <a:xfrm>
            <a:off x="1375037" y="6506343"/>
            <a:ext cx="99551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00" b="0" i="0" kern="1200">
                <a:solidFill>
                  <a:srgbClr val="7F7F7F"/>
                </a:solidFill>
                <a:effectLst/>
                <a:latin typeface="+mn-lt"/>
                <a:ea typeface="+mn-ea"/>
                <a:cs typeface="+mn-cs"/>
              </a:rPr>
              <a:t>© </a:t>
            </a:r>
            <a:r>
              <a:rPr lang="en-US" sz="500" b="0" i="0" kern="1200" err="1">
                <a:solidFill>
                  <a:srgbClr val="7F7F7F"/>
                </a:solidFill>
                <a:effectLst/>
                <a:latin typeface="+mn-lt"/>
                <a:ea typeface="+mn-ea"/>
                <a:cs typeface="+mn-cs"/>
              </a:rPr>
              <a:t>Newzoo</a:t>
            </a:r>
            <a:r>
              <a:rPr lang="en-US" sz="500" b="0" i="0" kern="1200">
                <a:solidFill>
                  <a:srgbClr val="7F7F7F"/>
                </a:solidFill>
                <a:effectLst/>
                <a:latin typeface="+mn-lt"/>
                <a:ea typeface="+mn-ea"/>
                <a:cs typeface="+mn-cs"/>
              </a:rPr>
              <a:t> 2023</a:t>
            </a:r>
            <a:endParaRPr lang="en-US" sz="50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8419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2">
          <p15:clr>
            <a:srgbClr val="FBAE40"/>
          </p15:clr>
        </p15:guide>
        <p15:guide id="2" orient="horz" pos="41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EB4C87-2E76-B52D-FCC8-50E1EB86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C0B0E-0C36-6766-BEB4-16A807E96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3FFA3-CADA-001E-90E0-20EB33EBA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FD16F-C9E7-41E9-AF71-9D13ADB60A0C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16E6B-E596-6932-DC82-0676586F1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11D5-9AB4-2838-8F21-96FA07F5D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2E93E-D17E-4E71-BABF-0A59986A3D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038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elp.platform.newzoo.com/en/collections/2570744-newzoo-games-taxonomy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599685-669A-8447-826E-5048EC9FA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ABB642-74C1-4BA6-B271-27AE8D0B79B7}" type="slidenum">
              <a:rPr lang="en-US" smtClean="0"/>
              <a:pPr/>
              <a:t>1</a:t>
            </a:fld>
            <a:r>
              <a:rPr lang="en-US"/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FA5037-3CAA-F21A-316F-68DFCB09AF4E}"/>
              </a:ext>
            </a:extLst>
          </p:cNvPr>
          <p:cNvSpPr/>
          <p:nvPr/>
        </p:nvSpPr>
        <p:spPr>
          <a:xfrm>
            <a:off x="455582" y="1106160"/>
            <a:ext cx="6889893" cy="5291262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Gotham Book" panose="02000603040000020004" pitchFamily="2" charset="0"/>
              </a:rPr>
              <a:t>Hero Shooter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A12DE2-EACB-812E-B1F8-748B2A053D46}"/>
              </a:ext>
            </a:extLst>
          </p:cNvPr>
          <p:cNvSpPr/>
          <p:nvPr/>
        </p:nvSpPr>
        <p:spPr>
          <a:xfrm>
            <a:off x="9602096" y="4001462"/>
            <a:ext cx="1901602" cy="239596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ook" panose="0200060304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0177C6-9BF2-BA0A-8C86-DB7D59CAD68B}"/>
              </a:ext>
            </a:extLst>
          </p:cNvPr>
          <p:cNvSpPr txBox="1"/>
          <p:nvPr/>
        </p:nvSpPr>
        <p:spPr>
          <a:xfrm>
            <a:off x="9657244" y="4349391"/>
            <a:ext cx="1874028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  <a:cs typeface="Calibri" panose="020F0502020204030204" pitchFamily="34" charset="0"/>
              </a:rPr>
              <a:t>Art styles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  <a:cs typeface="Calibri" panose="020F0502020204030204" pitchFamily="34" charset="0"/>
              </a:rPr>
              <a:t>Avatar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i="0" u="none" strike="noStrike">
                <a:effectLst/>
                <a:latin typeface="Gotham Book" panose="02000603040000020004" pitchFamily="2" charset="0"/>
              </a:rPr>
              <a:t>Competitivenes</a:t>
            </a:r>
            <a:r>
              <a:rPr lang="en-US" sz="800" i="0" strike="noStrike">
                <a:effectLst/>
                <a:latin typeface="Gotham Book" panose="02000603040000020004" pitchFamily="2" charset="0"/>
              </a:rPr>
              <a:t>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Developer/Publisher</a:t>
            </a:r>
            <a:endParaRPr lang="en-US" sz="800" i="0" strike="noStrike">
              <a:effectLst/>
              <a:latin typeface="Gotham Book" panose="0200060304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i="0">
                <a:effectLst/>
                <a:latin typeface="Gotham Book" panose="02000603040000020004" pitchFamily="2" charset="0"/>
              </a:rPr>
              <a:t>Dimensionality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Franchise</a:t>
            </a:r>
            <a:endParaRPr lang="en-US" sz="800" i="0">
              <a:effectLst/>
              <a:latin typeface="Gotham Book" panose="0200060304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i="0">
                <a:effectLst/>
                <a:latin typeface="Gotham Book" panose="02000603040000020004" pitchFamily="2" charset="0"/>
              </a:rPr>
              <a:t>Game Mechanics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i="0" u="none" strike="noStrike">
                <a:effectLst/>
                <a:latin typeface="Gotham Book" panose="02000603040000020004" pitchFamily="2" charset="0"/>
              </a:rPr>
              <a:t>Monetization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i="0" u="none" strike="noStrike">
                <a:effectLst/>
                <a:latin typeface="Gotham Book" panose="02000603040000020004" pitchFamily="2" charset="0"/>
              </a:rPr>
              <a:t>Perspective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i="0" u="none" strike="noStrike">
                <a:effectLst/>
                <a:latin typeface="Gotham Book" panose="02000603040000020004" pitchFamily="2" charset="0"/>
              </a:rPr>
              <a:t>Player Number</a:t>
            </a:r>
            <a:endParaRPr lang="en-US" sz="800">
              <a:latin typeface="Gotham Book" panose="020006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70A36D-5A5F-CB18-BCF4-D8D924672516}"/>
              </a:ext>
            </a:extLst>
          </p:cNvPr>
          <p:cNvSpPr txBox="1"/>
          <p:nvPr/>
        </p:nvSpPr>
        <p:spPr>
          <a:xfrm>
            <a:off x="9887453" y="4089101"/>
            <a:ext cx="1233751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12750" hangingPunct="0">
              <a:defRPr/>
            </a:pPr>
            <a:r>
              <a:rPr lang="en-US" altLang="zh-CN" sz="10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  <a:sym typeface="Mark-Bold"/>
              </a:rPr>
              <a:t>OTHERS</a:t>
            </a:r>
            <a:endParaRPr lang="en-US" sz="10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18DA31F-D7E6-5154-DABB-305789BE4057}"/>
              </a:ext>
            </a:extLst>
          </p:cNvPr>
          <p:cNvSpPr/>
          <p:nvPr/>
        </p:nvSpPr>
        <p:spPr>
          <a:xfrm>
            <a:off x="10055821" y="4257966"/>
            <a:ext cx="228600" cy="2418588"/>
          </a:xfrm>
          <a:custGeom>
            <a:avLst/>
            <a:gdLst>
              <a:gd name="connsiteX0" fmla="*/ 0 w 457200"/>
              <a:gd name="connsiteY0" fmla="*/ 246888 h 4837176"/>
              <a:gd name="connsiteX1" fmla="*/ 0 w 457200"/>
              <a:gd name="connsiteY1" fmla="*/ 0 h 4837176"/>
              <a:gd name="connsiteX2" fmla="*/ 457200 w 457200"/>
              <a:gd name="connsiteY2" fmla="*/ 18288 h 4837176"/>
              <a:gd name="connsiteX3" fmla="*/ 457200 w 457200"/>
              <a:gd name="connsiteY3" fmla="*/ 4837176 h 483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4837176">
                <a:moveTo>
                  <a:pt x="0" y="246888"/>
                </a:moveTo>
                <a:lnTo>
                  <a:pt x="0" y="0"/>
                </a:lnTo>
                <a:cubicBezTo>
                  <a:pt x="217539" y="39552"/>
                  <a:pt x="66506" y="18288"/>
                  <a:pt x="457200" y="18288"/>
                </a:cubicBezTo>
                <a:lnTo>
                  <a:pt x="457200" y="4837176"/>
                </a:lnTo>
              </a:path>
            </a:pathLst>
          </a:cu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22860" rIns="45720" bIns="22860" numCol="1" spcCol="38100" rtlCol="0" anchor="t">
            <a:noAutofit/>
          </a:bodyPr>
          <a:lstStyle/>
          <a:p>
            <a:pPr defTabSz="457200" latinLnBrk="1" hangingPunct="0"/>
            <a:endParaRPr lang="en-US" sz="900">
              <a:solidFill>
                <a:srgbClr val="000000"/>
              </a:solidFill>
              <a:latin typeface="Gotham Book" panose="02000603040000020004" pitchFamily="2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F6747ED-3AD0-C317-3A9F-5F57D19672C6}"/>
              </a:ext>
            </a:extLst>
          </p:cNvPr>
          <p:cNvSpPr/>
          <p:nvPr/>
        </p:nvSpPr>
        <p:spPr>
          <a:xfrm>
            <a:off x="7280822" y="2752883"/>
            <a:ext cx="128954" cy="7825"/>
          </a:xfrm>
          <a:custGeom>
            <a:avLst/>
            <a:gdLst>
              <a:gd name="connsiteX0" fmla="*/ 0 w 257908"/>
              <a:gd name="connsiteY0" fmla="*/ 15650 h 15650"/>
              <a:gd name="connsiteX1" fmla="*/ 0 w 257908"/>
              <a:gd name="connsiteY1" fmla="*/ 15650 h 15650"/>
              <a:gd name="connsiteX2" fmla="*/ 171938 w 257908"/>
              <a:gd name="connsiteY2" fmla="*/ 15650 h 15650"/>
              <a:gd name="connsiteX3" fmla="*/ 93785 w 257908"/>
              <a:gd name="connsiteY3" fmla="*/ 15650 h 15650"/>
              <a:gd name="connsiteX4" fmla="*/ 257908 w 257908"/>
              <a:gd name="connsiteY4" fmla="*/ 19 h 1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908" h="15650">
                <a:moveTo>
                  <a:pt x="0" y="15650"/>
                </a:moveTo>
                <a:lnTo>
                  <a:pt x="0" y="15650"/>
                </a:lnTo>
                <a:lnTo>
                  <a:pt x="171938" y="15650"/>
                </a:lnTo>
                <a:lnTo>
                  <a:pt x="93785" y="15650"/>
                </a:lnTo>
                <a:cubicBezTo>
                  <a:pt x="236995" y="-1199"/>
                  <a:pt x="182054" y="19"/>
                  <a:pt x="257908" y="19"/>
                </a:cubicBezTo>
              </a:path>
            </a:pathLst>
          </a:cu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22860" rIns="45720" bIns="22860" numCol="1" spcCol="38100" rtlCol="0" anchor="t">
            <a:noAutofit/>
          </a:bodyPr>
          <a:lstStyle/>
          <a:p>
            <a:pPr defTabSz="457200" latinLnBrk="1" hangingPunct="0"/>
            <a:endParaRPr lang="en-US" sz="900">
              <a:solidFill>
                <a:srgbClr val="000000"/>
              </a:solidFill>
              <a:latin typeface="Gotham Book" panose="0200060304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D8E950-5ECA-7C08-5E2D-95F9CC49817B}"/>
              </a:ext>
            </a:extLst>
          </p:cNvPr>
          <p:cNvSpPr txBox="1"/>
          <p:nvPr/>
        </p:nvSpPr>
        <p:spPr>
          <a:xfrm>
            <a:off x="499909" y="1486525"/>
            <a:ext cx="1371600" cy="18158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  <a:sym typeface="Mark-Bold"/>
              </a:rPr>
              <a:t>Adventure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Action-Adventure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Narrative Adventure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Hack and Slash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Interactive Story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Survival Horror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Survival Arena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Open World Survival Craft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Stealth Game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Action Roguelike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Dungeon Crawler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Geo AR</a:t>
            </a:r>
            <a:endParaRPr lang="en-US" sz="800" b="1" kern="0">
              <a:solidFill>
                <a:srgbClr val="000000"/>
              </a:solidFill>
              <a:latin typeface="Gotham Book" panose="02000603040000020004" pitchFamily="2" charset="0"/>
              <a:cs typeface="Calibri" panose="020F0502020204030204" pitchFamily="34" charset="0"/>
              <a:sym typeface="Mark-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E3DCFB-A4A7-D483-E420-F1038CAB0A2C}"/>
              </a:ext>
            </a:extLst>
          </p:cNvPr>
          <p:cNvSpPr txBox="1"/>
          <p:nvPr/>
        </p:nvSpPr>
        <p:spPr>
          <a:xfrm>
            <a:off x="3038372" y="1209855"/>
            <a:ext cx="1724312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000">
                <a:latin typeface="Gotham Medium" pitchFamily="50" charset="0"/>
                <a:cs typeface="Gotham Medium" pitchFamily="50" charset="0"/>
              </a:rPr>
              <a:t>GENRES / SUBGENRES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BC6895-DF5F-BBEB-013F-C35B8D0706DE}"/>
              </a:ext>
            </a:extLst>
          </p:cNvPr>
          <p:cNvSpPr txBox="1"/>
          <p:nvPr/>
        </p:nvSpPr>
        <p:spPr>
          <a:xfrm>
            <a:off x="3028188" y="6473772"/>
            <a:ext cx="6136675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sz="800">
                <a:latin typeface="Gotham Book"/>
              </a:rPr>
              <a:t>Source: ©Newzoo | Newzoo Game Performance Monitor | </a:t>
            </a:r>
            <a:r>
              <a:rPr lang="en-US" altLang="zh-CN" sz="800" kern="0">
                <a:solidFill>
                  <a:srgbClr val="000000"/>
                </a:solidFill>
                <a:latin typeface="Gotham Book"/>
                <a:ea typeface="等线"/>
                <a:sym typeface="Mark-Bold"/>
              </a:rPr>
              <a:t>For details of Newzoo Games Taxonomy, please visit </a:t>
            </a:r>
            <a:r>
              <a:rPr lang="en-US" altLang="zh-CN" sz="800" kern="0">
                <a:solidFill>
                  <a:srgbClr val="000000"/>
                </a:solidFill>
                <a:latin typeface="Gotham Book"/>
                <a:ea typeface="等线"/>
                <a:sym typeface="Mark-Bold"/>
                <a:hlinkClick r:id="rId2"/>
              </a:rPr>
              <a:t>here</a:t>
            </a:r>
            <a:r>
              <a:rPr lang="en-US" altLang="zh-CN" sz="800" kern="0">
                <a:solidFill>
                  <a:srgbClr val="000000"/>
                </a:solidFill>
                <a:latin typeface="Gotham Book"/>
                <a:ea typeface="等线"/>
                <a:sym typeface="Mark-Bold"/>
              </a:rPr>
              <a:t>.</a:t>
            </a:r>
            <a:endParaRPr lang="en-US" sz="800">
              <a:latin typeface="Gotham Book"/>
              <a:ea typeface="等线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BE4D15-5ACE-9FB4-DDE6-CCB75392FCDD}"/>
              </a:ext>
            </a:extLst>
          </p:cNvPr>
          <p:cNvSpPr/>
          <p:nvPr/>
        </p:nvSpPr>
        <p:spPr>
          <a:xfrm>
            <a:off x="7440163" y="4001463"/>
            <a:ext cx="2088068" cy="2395962"/>
          </a:xfrm>
          <a:prstGeom prst="rect">
            <a:avLst/>
          </a:prstGeom>
          <a:solidFill>
            <a:schemeClr val="bg1"/>
          </a:solidFill>
          <a:ln>
            <a:solidFill>
              <a:srgbClr val="DE19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ook" panose="020006030400000200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9D125F-290F-D622-B4F0-4BB8F67D5C2B}"/>
              </a:ext>
            </a:extLst>
          </p:cNvPr>
          <p:cNvSpPr txBox="1"/>
          <p:nvPr/>
        </p:nvSpPr>
        <p:spPr>
          <a:xfrm>
            <a:off x="7448255" y="4349391"/>
            <a:ext cx="1998740" cy="2062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Story Mode / Campaign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Death Match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Wave Based Survival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Capture the Flag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Domination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Attack/Defend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Build &amp; Battle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Base Capture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ea typeface="+mn-lt"/>
                <a:cs typeface="+mn-lt"/>
              </a:rPr>
              <a:t>Asymmetrical </a:t>
            </a:r>
            <a:r>
              <a:rPr lang="en-US" sz="800">
                <a:latin typeface="Gotham Book"/>
              </a:rPr>
              <a:t>Mission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Dungeons/Raids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Sports &amp; Racing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Best Score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Level Completion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Last One Standing / Survival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Sandbox / Free Play</a:t>
            </a:r>
          </a:p>
          <a:p>
            <a:pPr marL="171450" indent="-171450" defTabSz="412750" hangingPunct="0">
              <a:buFont typeface="Arial" panose="020B0604020202020204" pitchFamily="34" charset="0"/>
              <a:buChar char="•"/>
              <a:defRPr/>
            </a:pPr>
            <a:r>
              <a:rPr lang="en-US" sz="800">
                <a:latin typeface="Gotham Book"/>
              </a:rPr>
              <a:t>Level Editor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603287-5D0D-FC08-18A5-5F9DF83B22C3}"/>
              </a:ext>
            </a:extLst>
          </p:cNvPr>
          <p:cNvSpPr txBox="1"/>
          <p:nvPr/>
        </p:nvSpPr>
        <p:spPr>
          <a:xfrm>
            <a:off x="7595264" y="4089101"/>
            <a:ext cx="1688539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12750" hangingPunct="0">
              <a:defRPr/>
            </a:pPr>
            <a:r>
              <a:rPr lang="en-US" sz="10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  <a:sym typeface="Mark-Bold"/>
              </a:rPr>
              <a:t>GAME MODES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886374-06AD-A9E4-0634-B6157D2E8899}"/>
              </a:ext>
            </a:extLst>
          </p:cNvPr>
          <p:cNvSpPr/>
          <p:nvPr/>
        </p:nvSpPr>
        <p:spPr>
          <a:xfrm>
            <a:off x="7440163" y="1106160"/>
            <a:ext cx="4063536" cy="281895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ook" panose="02000603040000020004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FF28EE-6898-F28A-A28A-AB4C5576DB46}"/>
              </a:ext>
            </a:extLst>
          </p:cNvPr>
          <p:cNvSpPr txBox="1"/>
          <p:nvPr/>
        </p:nvSpPr>
        <p:spPr>
          <a:xfrm>
            <a:off x="8165412" y="1209855"/>
            <a:ext cx="26130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12750" hangingPunct="0">
              <a:defRPr/>
            </a:pPr>
            <a:r>
              <a:rPr lang="en-US" sz="10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  <a:sym typeface="Mark-Bold"/>
              </a:rPr>
              <a:t>THEMES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EC9C16-7BF4-9F5C-9A3E-0AB87EF6E911}"/>
              </a:ext>
            </a:extLst>
          </p:cNvPr>
          <p:cNvSpPr txBox="1"/>
          <p:nvPr/>
        </p:nvSpPr>
        <p:spPr>
          <a:xfrm>
            <a:off x="499909" y="3289334"/>
            <a:ext cx="1371600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  <a:sym typeface="Mark-Bold"/>
              </a:rPr>
              <a:t>Arcade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Party Game</a:t>
            </a:r>
            <a:endParaRPr lang="en-US" sz="800" b="1" kern="0">
              <a:solidFill>
                <a:srgbClr val="000000"/>
              </a:solidFill>
              <a:latin typeface="Gotham Book" panose="02000603040000020004" pitchFamily="2" charset="0"/>
              <a:cs typeface="Calibri" panose="020F0502020204030204" pitchFamily="34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Social Deduction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Endless Runner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Arcade Royale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Shoot '</a:t>
            </a:r>
            <a:r>
              <a:rPr lang="en-US" sz="800" err="1">
                <a:latin typeface="Gotham Book" panose="02000603040000020004" pitchFamily="2" charset="0"/>
              </a:rPr>
              <a:t>Em</a:t>
            </a:r>
            <a:r>
              <a:rPr lang="en-US" sz="800">
                <a:latin typeface="Gotham Book" panose="02000603040000020004" pitchFamily="2" charset="0"/>
              </a:rPr>
              <a:t>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Beat '</a:t>
            </a:r>
            <a:r>
              <a:rPr lang="en-US" sz="800" err="1">
                <a:latin typeface="Gotham Book" panose="02000603040000020004" pitchFamily="2" charset="0"/>
              </a:rPr>
              <a:t>Em</a:t>
            </a:r>
            <a:r>
              <a:rPr lang="en-US" sz="800">
                <a:latin typeface="Gotham Book" panose="02000603040000020004" pitchFamily="2" charset="0"/>
              </a:rPr>
              <a:t>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Bullet Hell</a:t>
            </a:r>
            <a:endParaRPr lang="en-US" sz="800" b="1" kern="0">
              <a:solidFill>
                <a:srgbClr val="000000"/>
              </a:solidFill>
              <a:latin typeface="Gotham Book" panose="02000603040000020004" pitchFamily="2" charset="0"/>
              <a:cs typeface="Calibri" panose="020F0502020204030204" pitchFamily="34" charset="0"/>
              <a:sym typeface="Mark-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0E6EF5-94FE-B9E7-3FEA-E37B0F9EB03A}"/>
              </a:ext>
            </a:extLst>
          </p:cNvPr>
          <p:cNvSpPr txBox="1"/>
          <p:nvPr/>
        </p:nvSpPr>
        <p:spPr>
          <a:xfrm>
            <a:off x="499909" y="4374084"/>
            <a:ext cx="137160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  <a:sym typeface="Mark-Bold"/>
              </a:rPr>
              <a:t>Battle</a:t>
            </a:r>
            <a:r>
              <a:rPr lang="en-US" sz="800" kern="0">
                <a:solidFill>
                  <a:srgbClr val="000000"/>
                </a:solidFill>
                <a:latin typeface="Gotham Book" panose="02000603040000020004" pitchFamily="2" charset="0"/>
                <a:cs typeface="Calibri" panose="020F0502020204030204" pitchFamily="34" charset="0"/>
                <a:sym typeface="Mark-Bold"/>
              </a:rPr>
              <a:t> </a:t>
            </a:r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  <a:sym typeface="Mark-Bold"/>
              </a:rPr>
              <a:t>Arena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MOBA</a:t>
            </a:r>
            <a:endParaRPr lang="en-US" sz="800" b="1" kern="0">
              <a:solidFill>
                <a:srgbClr val="000000"/>
              </a:solidFill>
              <a:latin typeface="Gotham Book" panose="02000603040000020004" pitchFamily="2" charset="0"/>
              <a:cs typeface="Calibri" panose="020F0502020204030204" pitchFamily="34" charset="0"/>
              <a:sym typeface="Mark-Bold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08833B-64D5-2944-C6B5-4EC4B83EB896}"/>
              </a:ext>
            </a:extLst>
          </p:cNvPr>
          <p:cNvSpPr txBox="1"/>
          <p:nvPr/>
        </p:nvSpPr>
        <p:spPr>
          <a:xfrm>
            <a:off x="499909" y="4725680"/>
            <a:ext cx="13716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Battle</a:t>
            </a:r>
            <a:r>
              <a:rPr lang="en-US" sz="800">
                <a:latin typeface="Gotham Book" panose="02000603040000020004" pitchFamily="2" charset="0"/>
              </a:rPr>
              <a:t> </a:t>
            </a:r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Royale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Third-Person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First-Person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Hero Shooter</a:t>
            </a:r>
            <a:endParaRPr lang="en-US" sz="800" b="1" kern="0">
              <a:solidFill>
                <a:srgbClr val="000000"/>
              </a:solidFill>
              <a:latin typeface="Gotham Book" panose="02000603040000020004" pitchFamily="2" charset="0"/>
              <a:cs typeface="Calibri" panose="020F0502020204030204" pitchFamily="34" charset="0"/>
              <a:sym typeface="Mark-Bold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93E5EE-58B2-0D34-A47E-43F5DCFDCD57}"/>
              </a:ext>
            </a:extLst>
          </p:cNvPr>
          <p:cNvSpPr txBox="1"/>
          <p:nvPr/>
        </p:nvSpPr>
        <p:spPr>
          <a:xfrm>
            <a:off x="499909" y="5590492"/>
            <a:ext cx="137160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Card</a:t>
            </a:r>
            <a:r>
              <a:rPr lang="en-US" sz="800">
                <a:latin typeface="Gotham Book" panose="02000603040000020004" pitchFamily="2" charset="0"/>
              </a:rPr>
              <a:t> </a:t>
            </a:r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Battle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Roguelike </a:t>
            </a:r>
            <a:r>
              <a:rPr lang="en-US" sz="800" err="1">
                <a:latin typeface="Gotham Book" panose="02000603040000020004" pitchFamily="2" charset="0"/>
              </a:rPr>
              <a:t>Deckbuilder</a:t>
            </a:r>
            <a:endParaRPr lang="en-US" sz="800">
              <a:latin typeface="Gotham Book" panose="0200060304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Collectible Card Game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6A48B0-2DE8-463A-7CBB-98CF3EC7392C}"/>
              </a:ext>
            </a:extLst>
          </p:cNvPr>
          <p:cNvSpPr txBox="1"/>
          <p:nvPr/>
        </p:nvSpPr>
        <p:spPr>
          <a:xfrm>
            <a:off x="1856341" y="1486525"/>
            <a:ext cx="137160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Casino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Traditional Casino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Meta Casino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Adventure Casino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Real Money Casino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CBB696-1FE3-C77B-BED3-B76013071757}"/>
              </a:ext>
            </a:extLst>
          </p:cNvPr>
          <p:cNvSpPr txBox="1"/>
          <p:nvPr/>
        </p:nvSpPr>
        <p:spPr>
          <a:xfrm>
            <a:off x="1856341" y="2228587"/>
            <a:ext cx="137160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Education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Coloring Game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8DA057-AD91-41EE-78FE-71884B56A1D7}"/>
              </a:ext>
            </a:extLst>
          </p:cNvPr>
          <p:cNvSpPr txBox="1"/>
          <p:nvPr/>
        </p:nvSpPr>
        <p:spPr>
          <a:xfrm>
            <a:off x="1856341" y="2617398"/>
            <a:ext cx="13716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Fighting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Platform Fighter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Traditional Fighter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Arena Fighter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Sports Fighting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Beat '</a:t>
            </a:r>
            <a:r>
              <a:rPr lang="en-US" sz="800" err="1">
                <a:latin typeface="Gotham Book" panose="02000603040000020004" pitchFamily="2" charset="0"/>
              </a:rPr>
              <a:t>Em</a:t>
            </a:r>
            <a:r>
              <a:rPr lang="en-US" sz="800">
                <a:latin typeface="Gotham Book" panose="02000603040000020004" pitchFamily="2" charset="0"/>
              </a:rPr>
              <a:t> Up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B806E1-B6D3-BE7C-6A8D-821511D699ED}"/>
              </a:ext>
            </a:extLst>
          </p:cNvPr>
          <p:cNvSpPr txBox="1"/>
          <p:nvPr/>
        </p:nvSpPr>
        <p:spPr>
          <a:xfrm>
            <a:off x="1856341" y="3479812"/>
            <a:ext cx="1371600" cy="1446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Hyper</a:t>
            </a:r>
            <a:r>
              <a:rPr lang="en-US" sz="800">
                <a:latin typeface="Gotham Book" panose="02000603040000020004" pitchFamily="2" charset="0"/>
              </a:rPr>
              <a:t> </a:t>
            </a:r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Casual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Hyper Casual Runner/Racing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Hyper Casual 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Hyper Casual Simulation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Hyper Casual Puzzle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ASMR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Hyper Casual io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F1600C-47A1-9D36-8D9F-BEE6DC4AF627}"/>
              </a:ext>
            </a:extLst>
          </p:cNvPr>
          <p:cNvSpPr txBox="1"/>
          <p:nvPr/>
        </p:nvSpPr>
        <p:spPr>
          <a:xfrm>
            <a:off x="1856341" y="4945793"/>
            <a:ext cx="13716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Idle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Idle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Idle RPG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7A92B3-B203-2DB9-F120-A8850658AE9B}"/>
              </a:ext>
            </a:extLst>
          </p:cNvPr>
          <p:cNvSpPr txBox="1"/>
          <p:nvPr/>
        </p:nvSpPr>
        <p:spPr>
          <a:xfrm>
            <a:off x="1856341" y="5439018"/>
            <a:ext cx="13716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Music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Rhythm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Dancing Game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F8DB33-2F87-24E5-73B9-54CE1105C93F}"/>
              </a:ext>
            </a:extLst>
          </p:cNvPr>
          <p:cNvSpPr txBox="1"/>
          <p:nvPr/>
        </p:nvSpPr>
        <p:spPr>
          <a:xfrm>
            <a:off x="3212773" y="1486525"/>
            <a:ext cx="13716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Platformer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Puzzle-Platformer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Side Scroller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latin typeface="Gotham Book" panose="02000603040000020004" pitchFamily="2" charset="0"/>
              </a:rPr>
              <a:t>Metroidvania</a:t>
            </a:r>
            <a:endParaRPr lang="en-US" sz="800">
              <a:latin typeface="Gotham Book" panose="0200060304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Precision Platformer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4C24F9-1180-BC85-08DE-3604087146BB}"/>
              </a:ext>
            </a:extLst>
          </p:cNvPr>
          <p:cNvSpPr txBox="1"/>
          <p:nvPr/>
        </p:nvSpPr>
        <p:spPr>
          <a:xfrm>
            <a:off x="3212773" y="2452028"/>
            <a:ext cx="1371600" cy="2062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Puzzle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Match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Puzzle &amp; Decorate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Bubble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Jigsaw Puzzle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Word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Trivia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Hidden Objects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Physics-Based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Room Escape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Coloring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Puzzle 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Puzzle-Platformer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Detective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Brain 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Merge &amp; Breeding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511B9D-8055-C622-AF50-3ADE15E981D5}"/>
              </a:ext>
            </a:extLst>
          </p:cNvPr>
          <p:cNvSpPr txBox="1"/>
          <p:nvPr/>
        </p:nvSpPr>
        <p:spPr>
          <a:xfrm>
            <a:off x="3234103" y="4636123"/>
            <a:ext cx="1371600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Racing</a:t>
            </a:r>
            <a:endParaRPr lang="en-US" sz="800" kern="0">
              <a:solidFill>
                <a:srgbClr val="000000"/>
              </a:solidFill>
              <a:latin typeface="Gotham Medium" pitchFamily="50" charset="0"/>
              <a:cs typeface="Gotham Medium" pitchFamily="50" charset="0"/>
              <a:sym typeface="Mark-Bol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Arcade Racing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Kart Racing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Sim Racing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Drift Racing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Combat Racing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Drag Racing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Stunt Racing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E486C0-7E79-2D40-8D9B-B0FCE731C0FA}"/>
              </a:ext>
            </a:extLst>
          </p:cNvPr>
          <p:cNvSpPr txBox="1"/>
          <p:nvPr/>
        </p:nvSpPr>
        <p:spPr>
          <a:xfrm>
            <a:off x="4569205" y="1486525"/>
            <a:ext cx="1506855" cy="18158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Role</a:t>
            </a:r>
            <a:r>
              <a:rPr lang="en-US" sz="800">
                <a:latin typeface="Gotham Book" panose="02000603040000020004" pitchFamily="2" charset="0"/>
              </a:rPr>
              <a:t> </a:t>
            </a:r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Playing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Action 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MMORPG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Tactical 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Puzzle 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Collection 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Narrative 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JRPG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Idle RPG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Souls-like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Dungeon Crawler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Action Roguelike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Traditional Roguelike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Geo AR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2F9E51-0387-F5D4-8D76-D707EE204194}"/>
              </a:ext>
            </a:extLst>
          </p:cNvPr>
          <p:cNvSpPr txBox="1"/>
          <p:nvPr/>
        </p:nvSpPr>
        <p:spPr>
          <a:xfrm>
            <a:off x="4569205" y="3364556"/>
            <a:ext cx="1506855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Sandbox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Adventure Sandbox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Game Creation Platform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Social Metaverse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8C56C5-BCB9-FFDE-E324-C2583BE188CE}"/>
              </a:ext>
            </a:extLst>
          </p:cNvPr>
          <p:cNvSpPr txBox="1"/>
          <p:nvPr/>
        </p:nvSpPr>
        <p:spPr>
          <a:xfrm>
            <a:off x="6017349" y="3226419"/>
            <a:ext cx="13716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Sports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Arcade Sports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Realistic Sports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Sports Fighting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AB237D-2512-2E91-01F1-E4A325CD1F14}"/>
              </a:ext>
            </a:extLst>
          </p:cNvPr>
          <p:cNvSpPr txBox="1"/>
          <p:nvPr/>
        </p:nvSpPr>
        <p:spPr>
          <a:xfrm>
            <a:off x="4569205" y="4148792"/>
            <a:ext cx="1506855" cy="21852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Simulation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Life Sim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Time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Tycoon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Merge &amp; Breeding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City Builder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Romance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Sports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Vehicle Simulator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Dress Up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Job Simulator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God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Farming Sim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Pet Sim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Social Metaverse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Battle Simulator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Survival Sim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00289E-FC3D-4FE2-7A46-EEBA75EAE8F7}"/>
              </a:ext>
            </a:extLst>
          </p:cNvPr>
          <p:cNvSpPr txBox="1"/>
          <p:nvPr/>
        </p:nvSpPr>
        <p:spPr>
          <a:xfrm>
            <a:off x="6017349" y="3927808"/>
            <a:ext cx="1371600" cy="1446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Strategy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Build &amp; Battle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Tower Defense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Auto Battler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Summon Battler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4X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Real-Time Strategy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Grand Strategy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Turn-Based Strategy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Battle Simulator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1E2C4A-5739-D8EF-23D7-F226F6073344}"/>
              </a:ext>
            </a:extLst>
          </p:cNvPr>
          <p:cNvSpPr txBox="1"/>
          <p:nvPr/>
        </p:nvSpPr>
        <p:spPr>
          <a:xfrm>
            <a:off x="6017349" y="5499195"/>
            <a:ext cx="13716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Tabletop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Board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Traditional Card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Mahjong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Solitaire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Dice Game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F50AB0-7FF1-EEDB-8864-081264524AEA}"/>
              </a:ext>
            </a:extLst>
          </p:cNvPr>
          <p:cNvSpPr txBox="1"/>
          <p:nvPr/>
        </p:nvSpPr>
        <p:spPr>
          <a:xfrm>
            <a:off x="6017349" y="1482532"/>
            <a:ext cx="1371600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ctr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Third-Person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First-Person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Top-Down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Hero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Vehicular Combat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Looter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Arena Shooter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Sniper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Shoot '</a:t>
            </a:r>
            <a:r>
              <a:rPr lang="en-US" sz="800" err="1">
                <a:latin typeface="Gotham Book" panose="02000603040000020004" pitchFamily="2" charset="0"/>
              </a:rPr>
              <a:t>Em</a:t>
            </a:r>
            <a:r>
              <a:rPr lang="en-US" sz="800">
                <a:latin typeface="Gotham Book" panose="02000603040000020004" pitchFamily="2" charset="0"/>
              </a:rPr>
              <a:t>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Bullet Hell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82AB31-9F27-1C65-0F53-95F8B28E501A}"/>
              </a:ext>
            </a:extLst>
          </p:cNvPr>
          <p:cNvSpPr txBox="1"/>
          <p:nvPr/>
        </p:nvSpPr>
        <p:spPr>
          <a:xfrm>
            <a:off x="8786877" y="1482532"/>
            <a:ext cx="1371600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l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Historic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Modern Era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Western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Medieval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Asian Imperial Age &amp; Dynasties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Prehistoric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Ancient History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Industrial Era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Renaissance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D3ADC1-B47C-ACDC-C71F-DADE053D9D13}"/>
              </a:ext>
            </a:extLst>
          </p:cNvPr>
          <p:cNvSpPr txBox="1"/>
          <p:nvPr/>
        </p:nvSpPr>
        <p:spPr>
          <a:xfrm>
            <a:off x="7448254" y="2325494"/>
            <a:ext cx="1371600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l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Fantasy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Mythology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Dark Fantasy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High Magical Fantasy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Low Magical Fantasy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3B2A12-7C3E-39A1-6AF7-CFD28AC836E9}"/>
              </a:ext>
            </a:extLst>
          </p:cNvPr>
          <p:cNvSpPr txBox="1"/>
          <p:nvPr/>
        </p:nvSpPr>
        <p:spPr>
          <a:xfrm>
            <a:off x="10056228" y="1463387"/>
            <a:ext cx="1371600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91440" tIns="45720" rIns="91440" bIns="45720" anchor="t">
            <a:spAutoFit/>
          </a:bodyPr>
          <a:lstStyle/>
          <a:p>
            <a:pPr algn="l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Science</a:t>
            </a:r>
            <a:r>
              <a:rPr lang="en-US" sz="800">
                <a:latin typeface="Gotham Book" panose="02000603040000020004" pitchFamily="2" charset="0"/>
              </a:rPr>
              <a:t> </a:t>
            </a:r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Fiction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Historical Science Fiction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Advanced Human Society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Alien Galaxy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Apocalyptic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48A20D-4AA4-756B-BD82-AF37EC68B1DA}"/>
              </a:ext>
            </a:extLst>
          </p:cNvPr>
          <p:cNvSpPr txBox="1"/>
          <p:nvPr/>
        </p:nvSpPr>
        <p:spPr>
          <a:xfrm>
            <a:off x="7448254" y="1482532"/>
            <a:ext cx="13716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l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Contemporary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Contemporary War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Sports and Athletics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Modern Day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Popular Culture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24316D-6B94-6CA5-529F-E57DD5738147}"/>
              </a:ext>
            </a:extLst>
          </p:cNvPr>
          <p:cNvSpPr txBox="1"/>
          <p:nvPr/>
        </p:nvSpPr>
        <p:spPr>
          <a:xfrm>
            <a:off x="8786878" y="2791173"/>
            <a:ext cx="1371600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l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Horror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Gothic/Occult Horror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Monster Horror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Psychological Horror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Slasher Horror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Paranormal Horror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366ADA-B633-450A-84AB-86D8AD70692F}"/>
              </a:ext>
            </a:extLst>
          </p:cNvPr>
          <p:cNvSpPr txBox="1"/>
          <p:nvPr/>
        </p:nvSpPr>
        <p:spPr>
          <a:xfrm>
            <a:off x="10125501" y="2456439"/>
            <a:ext cx="137160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l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Mystery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Mystery / Detective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A9D273-968C-6573-DFED-FC659B6A5365}"/>
              </a:ext>
            </a:extLst>
          </p:cNvPr>
          <p:cNvSpPr txBox="1"/>
          <p:nvPr/>
        </p:nvSpPr>
        <p:spPr>
          <a:xfrm>
            <a:off x="10125501" y="2803756"/>
            <a:ext cx="137160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>
            <a:spAutoFit/>
          </a:bodyPr>
          <a:lstStyle/>
          <a:p>
            <a:pPr algn="l"/>
            <a:r>
              <a:rPr lang="en-US" sz="800" kern="0">
                <a:solidFill>
                  <a:srgbClr val="000000"/>
                </a:solidFill>
                <a:latin typeface="Gotham Medium" pitchFamily="50" charset="0"/>
                <a:cs typeface="Gotham Medium" pitchFamily="50" charset="0"/>
              </a:rPr>
              <a:t>Other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>
                <a:latin typeface="Gotham Book" panose="02000603040000020004" pitchFamily="2" charset="0"/>
              </a:rPr>
              <a:t>Other Theme</a:t>
            </a:r>
          </a:p>
        </p:txBody>
      </p:sp>
      <p:pic>
        <p:nvPicPr>
          <p:cNvPr id="72" name="Picture 71" descr="Logo&#10;&#10;Description automatically generated">
            <a:extLst>
              <a:ext uri="{FF2B5EF4-FFF2-40B4-BE49-F238E27FC236}">
                <a16:creationId xmlns:a16="http://schemas.microsoft.com/office/drawing/2014/main" id="{EA133EB5-04DE-A782-48F6-CACC4A404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15" y="392454"/>
            <a:ext cx="510212" cy="567718"/>
          </a:xfrm>
          <a:prstGeom prst="rect">
            <a:avLst/>
          </a:prstGeom>
        </p:spPr>
      </p:pic>
      <p:sp>
        <p:nvSpPr>
          <p:cNvPr id="74" name="Text Placeholder 12">
            <a:extLst>
              <a:ext uri="{FF2B5EF4-FFF2-40B4-BE49-F238E27FC236}">
                <a16:creationId xmlns:a16="http://schemas.microsoft.com/office/drawing/2014/main" id="{868E46FE-AF73-D321-DEAD-217DA2B2EC6A}"/>
              </a:ext>
            </a:extLst>
          </p:cNvPr>
          <p:cNvSpPr txBox="1">
            <a:spLocks/>
          </p:cNvSpPr>
          <p:nvPr/>
        </p:nvSpPr>
        <p:spPr>
          <a:xfrm>
            <a:off x="1039841" y="444042"/>
            <a:ext cx="10463858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 kern="1200" cap="none" baseline="0">
                <a:solidFill>
                  <a:srgbClr val="191C1E"/>
                </a:solidFill>
                <a:latin typeface="Gotham Medium" panose="02000604030000020004" pitchFamily="2" charset="-128"/>
                <a:ea typeface="Gotham Medium" panose="02000604030000020004" pitchFamily="2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Newzoo Games Taxonomy</a:t>
            </a:r>
          </a:p>
        </p:txBody>
      </p:sp>
    </p:spTree>
    <p:extLst>
      <p:ext uri="{BB962C8B-B14F-4D97-AF65-F5344CB8AC3E}">
        <p14:creationId xmlns:p14="http://schemas.microsoft.com/office/powerpoint/2010/main" val="2828244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FDD48877E0741BE91765FC25A3CBF" ma:contentTypeVersion="14" ma:contentTypeDescription="Create a new document." ma:contentTypeScope="" ma:versionID="a2665b3bf8de2f6e3d230838b8a7c080">
  <xsd:schema xmlns:xsd="http://www.w3.org/2001/XMLSchema" xmlns:xs="http://www.w3.org/2001/XMLSchema" xmlns:p="http://schemas.microsoft.com/office/2006/metadata/properties" xmlns:ns2="cab4bb42-e6f8-4530-8199-b85976a685d4" xmlns:ns3="d45b5fc2-2f64-4e6a-b92e-890cffea5cfa" xmlns:ns4="571b4a5a-a5e3-4478-b530-3b78ea28966b" xmlns:ns5="2b0edd85-494a-426c-ad87-e70d87c6bd4b" targetNamespace="http://schemas.microsoft.com/office/2006/metadata/properties" ma:root="true" ma:fieldsID="5e007c78ed414ba5db972c41472bd8a0" ns2:_="" ns3:_="" ns4:_="" ns5:_="">
    <xsd:import namespace="cab4bb42-e6f8-4530-8199-b85976a685d4"/>
    <xsd:import namespace="d45b5fc2-2f64-4e6a-b92e-890cffea5cfa"/>
    <xsd:import namespace="571b4a5a-a5e3-4478-b530-3b78ea28966b"/>
    <xsd:import namespace="2b0edd85-494a-426c-ad87-e70d87c6bd4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5:SharedWithUsers" minOccurs="0"/>
                <xsd:element ref="ns5:SharedWithDetails" minOccurs="0"/>
                <xsd:element ref="ns4:MediaServiceAutoKeyPoints" minOccurs="0"/>
                <xsd:element ref="ns4:MediaServiceKeyPoints" minOccurs="0"/>
                <xsd:element ref="ns4:Notes" minOccurs="0"/>
                <xsd:element ref="ns4:MediaLengthInSeconds" minOccurs="0"/>
                <xsd:element ref="ns2:v" minOccurs="0"/>
                <xsd:element ref="ns2:e4b73543-00df-4318-93e0-cb02dd5ab4e0CountryOrRegion" minOccurs="0"/>
                <xsd:element ref="ns2:e4b73543-00df-4318-93e0-cb02dd5ab4e0State" minOccurs="0"/>
                <xsd:element ref="ns2:e4b73543-00df-4318-93e0-cb02dd5ab4e0City" minOccurs="0"/>
                <xsd:element ref="ns2:e4b73543-00df-4318-93e0-cb02dd5ab4e0PostalCode" minOccurs="0"/>
                <xsd:element ref="ns2:e4b73543-00df-4318-93e0-cb02dd5ab4e0Street" minOccurs="0"/>
                <xsd:element ref="ns2:e4b73543-00df-4318-93e0-cb02dd5ab4e0GeoLoc" minOccurs="0"/>
                <xsd:element ref="ns2:e4b73543-00df-4318-93e0-cb02dd5ab4e0DispName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4bb42-e6f8-4530-8199-b85976a685d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fd1fb60c-e688-402c-8cbe-1937476166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v" ma:index="25" nillable="true" ma:displayName=" v" ma:format="Dropdown" ma:internalName="v">
      <xsd:simpleType>
        <xsd:restriction base="dms:Unknown"/>
      </xsd:simpleType>
    </xsd:element>
    <xsd:element name="e4b73543-00df-4318-93e0-cb02dd5ab4e0CountryOrRegion" ma:index="26" nillable="true" ma:displayName=" v: Country/Region" ma:internalName="CountryOrRegion" ma:readOnly="true">
      <xsd:simpleType>
        <xsd:restriction base="dms:Text"/>
      </xsd:simpleType>
    </xsd:element>
    <xsd:element name="e4b73543-00df-4318-93e0-cb02dd5ab4e0State" ma:index="27" nillable="true" ma:displayName=" v: State" ma:internalName="State" ma:readOnly="true">
      <xsd:simpleType>
        <xsd:restriction base="dms:Text"/>
      </xsd:simpleType>
    </xsd:element>
    <xsd:element name="e4b73543-00df-4318-93e0-cb02dd5ab4e0City" ma:index="28" nillable="true" ma:displayName=" v: City" ma:internalName="City" ma:readOnly="true">
      <xsd:simpleType>
        <xsd:restriction base="dms:Text"/>
      </xsd:simpleType>
    </xsd:element>
    <xsd:element name="e4b73543-00df-4318-93e0-cb02dd5ab4e0PostalCode" ma:index="29" nillable="true" ma:displayName=" v: Postal Code" ma:internalName="PostalCode" ma:readOnly="true">
      <xsd:simpleType>
        <xsd:restriction base="dms:Text"/>
      </xsd:simpleType>
    </xsd:element>
    <xsd:element name="e4b73543-00df-4318-93e0-cb02dd5ab4e0Street" ma:index="30" nillable="true" ma:displayName=" v: Street" ma:internalName="Street" ma:readOnly="true">
      <xsd:simpleType>
        <xsd:restriction base="dms:Text"/>
      </xsd:simpleType>
    </xsd:element>
    <xsd:element name="e4b73543-00df-4318-93e0-cb02dd5ab4e0GeoLoc" ma:index="31" nillable="true" ma:displayName=" v: Coordinates" ma:internalName="GeoLoc" ma:readOnly="true">
      <xsd:simpleType>
        <xsd:restriction base="dms:Unknown"/>
      </xsd:simpleType>
    </xsd:element>
    <xsd:element name="e4b73543-00df-4318-93e0-cb02dd5ab4e0DispName" ma:index="32" nillable="true" ma:displayName=" v: Name" ma:internalName="DispName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b5fc2-2f64-4e6a-b92e-890cffea5cfa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f2d6c36f-8c24-4ec6-b67b-94460565dc96}" ma:internalName="TaxCatchAll" ma:showField="CatchAllData" ma:web="d45b5fc2-2f64-4e6a-b92e-890cffea5c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b4a5a-a5e3-4478-b530-3b78ea2896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s" ma:index="22" nillable="true" ma:displayName="Notes" ma:format="Dropdown" ma:internalName="Notes">
      <xsd:simpleType>
        <xsd:restriction base="dms:Text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0edd85-494a-426c-ad87-e70d87c6bd4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b4bb42-e6f8-4530-8199-b85976a685d4">
      <Terms xmlns="http://schemas.microsoft.com/office/infopath/2007/PartnerControls"/>
    </lcf76f155ced4ddcb4097134ff3c332f>
    <TaxCatchAll xmlns="d45b5fc2-2f64-4e6a-b92e-890cffea5cfa" xsi:nil="true"/>
    <v xmlns="cab4bb42-e6f8-4530-8199-b85976a685d4" xsi:nil="true"/>
    <Notes xmlns="571b4a5a-a5e3-4478-b530-3b78ea28966b" xsi:nil="true"/>
    <SharedWithUsers xmlns="2b0edd85-494a-426c-ad87-e70d87c6bd4b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6CAD19-66F9-4AC5-8621-AE2B7B8C3BC8}">
  <ds:schemaRefs>
    <ds:schemaRef ds:uri="2b0edd85-494a-426c-ad87-e70d87c6bd4b"/>
    <ds:schemaRef ds:uri="571b4a5a-a5e3-4478-b530-3b78ea28966b"/>
    <ds:schemaRef ds:uri="cab4bb42-e6f8-4530-8199-b85976a685d4"/>
    <ds:schemaRef ds:uri="d45b5fc2-2f64-4e6a-b92e-890cffea5c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6942907-8B11-4EE4-B612-C038EB32F694}">
  <ds:schemaRefs>
    <ds:schemaRef ds:uri="2b0edd85-494a-426c-ad87-e70d87c6bd4b"/>
    <ds:schemaRef ds:uri="44291410-b064-48fd-b3b4-d0361b760e12"/>
    <ds:schemaRef ds:uri="571b4a5a-a5e3-4478-b530-3b78ea28966b"/>
    <ds:schemaRef ds:uri="6ab9b5da-1949-4609-83f0-5b618f60aee3"/>
    <ds:schemaRef ds:uri="cab4bb42-e6f8-4530-8199-b85976a685d4"/>
    <ds:schemaRef ds:uri="d45b5fc2-2f64-4e6a-b92e-890cffea5cf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147B6D-9649-4B83-AAF8-8FFFD55393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Widescreen</PresentationFormat>
  <Paragraphs>218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Ponomarenko</dc:creator>
  <cp:lastModifiedBy>Volodymyr Koreiba</cp:lastModifiedBy>
  <cp:revision>2</cp:revision>
  <dcterms:created xsi:type="dcterms:W3CDTF">2022-08-02T07:44:39Z</dcterms:created>
  <dcterms:modified xsi:type="dcterms:W3CDTF">2026-03-06T15:16:55Z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0x010100E57FDD48877E0741BE91765FC25A3CBF</vt:lpwstr>
  </property>
  <property fmtid="{D5CDD505-2E9C-101B-9397-08002B2CF9AE}" pid="3" name="Order">
    <vt:r8>803400</vt:r8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</Properties>
</file>